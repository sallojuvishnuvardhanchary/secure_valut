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60" r:id="rId4"/>
    <p:sldId id="261" r:id="rId5"/>
    <p:sldId id="259" r:id="rId6"/>
    <p:sldId id="262" r:id="rId7"/>
    <p:sldId id="267" r:id="rId8"/>
    <p:sldId id="257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F075879D-E3FA-044F-4F5C-DBC1074A887F}">
          <p14:sldIdLst>
            <p14:sldId id="256"/>
          </p14:sldIdLst>
        </p14:section>
        <p14:section name="Features" id="{761CDD36-52FE-2DA0-A948-5CC905AA96F3}">
          <p14:sldIdLst>
            <p14:sldId id="265"/>
            <p14:sldId id="260"/>
            <p14:sldId id="261"/>
            <p14:sldId id="259"/>
            <p14:sldId id="262"/>
            <p14:sldId id="267"/>
          </p14:sldIdLst>
        </p14:section>
        <p14:section name="Wrap-up" id="{7363B5D7-70D1-2008-F858-598E20BCAA1F}">
          <p14:sldIdLst>
            <p14:sldId id="257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1664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SecureVault is a full-stack MERN password manager built around authenticated encryption (AES-256-GCM), per-user key derivation, and email OTP two-step login.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MERN split with security middleware on the Express side. The UI uses CSS custom properties so light and dark themes switch without a flash.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Seventeen endpoints across three route groups. Credential routes return masked data by default; plaintext is fetched on demand per credential. The structure separates controllers, services (crypto, email) and utils on the backend, and components, context and pages on the frontend.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registration and login require an emailed OTP. OTPs are stored only as HMAC-SHA256 hashes, are single-use, and no JWT is issued until verification succeeds.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suite with npm run test:backend. Close with the three guarantees the design is built to provide.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F6912-91D4-0123-D9D8-871A4F48E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EE26A5-3876-12B3-0848-C97D6AAF40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443E65-D30B-A9A5-B4D6-8EF3100F53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headline capabilities. Also included: full CRUD with confirmation dialogs, on-demand reveal of decrypted passwords, a live stats dashboard and a fully responsive layout.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DFA15-9D50-5C3E-076F-41A2FBD83C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95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headline capabilities. Also included: full CRUD with confirmation dialogs, on-demand reveal of decrypted passwords, a live stats dashboard and a fully responsive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7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05840"/>
            <a:ext cx="47548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057400"/>
            <a:ext cx="47548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17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183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058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</a:rPr>
              <a:t>SecureVault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2"/>
                </a:solidFill>
              </a:rPr>
              <a:t>Secure Password Manager</a:t>
            </a:r>
            <a:endParaRPr lang="en-US" sz="2400" dirty="0"/>
          </a:p>
        </p:txBody>
      </p:sp>
      <p:sp>
        <p:nvSpPr>
          <p:cNvPr id="11" name="Outer ring"/>
          <p:cNvSpPr/>
          <p:nvPr/>
        </p:nvSpPr>
        <p:spPr>
          <a:xfrm>
            <a:off x="5804320" y="1717679"/>
            <a:ext cx="3200400" cy="32004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Inner disc"/>
          <p:cNvSpPr/>
          <p:nvPr/>
        </p:nvSpPr>
        <p:spPr>
          <a:xfrm>
            <a:off x="6260309" y="2220599"/>
            <a:ext cx="2194560" cy="21945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3" name="Image 0" descr="Shiel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229" y="2814353"/>
            <a:ext cx="1188720" cy="11887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A11F9FA-A8B1-202C-0F60-327B5467B9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70560"/>
            <a:ext cx="9127205" cy="125928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3E3683A-3FA3-8152-4083-94FB7DA7F484}"/>
              </a:ext>
            </a:extLst>
          </p:cNvPr>
          <p:cNvSpPr txBox="1"/>
          <p:nvPr/>
        </p:nvSpPr>
        <p:spPr>
          <a:xfrm>
            <a:off x="401489" y="2514600"/>
            <a:ext cx="49020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PRESENTED BY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</a:rPr>
              <a:t>	 25MVCSMR0045</a:t>
            </a:r>
          </a:p>
          <a:p>
            <a:r>
              <a:rPr lang="en-US" dirty="0">
                <a:solidFill>
                  <a:schemeClr val="bg1"/>
                </a:solidFill>
              </a:rPr>
              <a:t>	 25MVCSMR0049</a:t>
            </a:r>
          </a:p>
          <a:p>
            <a:r>
              <a:rPr lang="en-US" dirty="0">
                <a:solidFill>
                  <a:schemeClr val="bg1"/>
                </a:solidFill>
              </a:rPr>
              <a:t>	 25MVCSMR0062</a:t>
            </a:r>
          </a:p>
          <a:p>
            <a:r>
              <a:rPr lang="en-US" dirty="0">
                <a:solidFill>
                  <a:schemeClr val="bg1"/>
                </a:solidFill>
              </a:rPr>
              <a:t>	 25MVCSMR0077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445770" y="308610"/>
            <a:ext cx="8092440" cy="362407"/>
          </a:xfrm>
          <a:prstGeom prst="rect">
            <a:avLst/>
          </a:prstGeom>
          <a:noFill/>
        </p:spPr>
        <p:txBody>
          <a:bodyPr wrap="square" lIns="13716" tIns="13716" rIns="13716" bIns="13716">
            <a:spAutoFit/>
          </a:bodyPr>
          <a:lstStyle/>
          <a:p>
            <a:pPr>
              <a:defRPr sz="2900" b="1">
                <a:solidFill>
                  <a:srgbClr val="F5F7FF"/>
                </a:solidFill>
                <a:latin typeface="Aptos"/>
              </a:defRPr>
            </a:pPr>
            <a:r>
              <a:rPr sz="2175" dirty="0">
                <a:solidFill>
                  <a:schemeClr val="tx2"/>
                </a:solidFill>
              </a:rPr>
              <a:t>01  |  Problem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768096"/>
            <a:ext cx="8092440" cy="166199"/>
          </a:xfrm>
          <a:prstGeom prst="rect">
            <a:avLst/>
          </a:prstGeom>
          <a:noFill/>
        </p:spPr>
        <p:txBody>
          <a:bodyPr wrap="square" lIns="13716" tIns="13716" rIns="13716" bIns="13716">
            <a:spAutoFit/>
          </a:bodyPr>
          <a:lstStyle/>
          <a:p>
            <a:pPr>
              <a:defRPr sz="1200" b="0">
                <a:solidFill>
                  <a:srgbClr val="B9C1D5"/>
                </a:solidFill>
                <a:latin typeface="Aptos"/>
              </a:defRPr>
            </a:pPr>
            <a:r>
              <a:rPr sz="900" dirty="0">
                <a:solidFill>
                  <a:schemeClr val="accent2">
                    <a:lumMod val="50000"/>
                  </a:schemeClr>
                </a:solidFill>
              </a:rPr>
              <a:t>Why a secure password manager is useful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2440" y="4834890"/>
            <a:ext cx="617220" cy="131574"/>
          </a:xfrm>
          <a:prstGeom prst="rect">
            <a:avLst/>
          </a:prstGeom>
          <a:noFill/>
        </p:spPr>
        <p:txBody>
          <a:bodyPr wrap="square" lIns="13716" tIns="13716" rIns="13716" bIns="13716">
            <a:spAutoFit/>
          </a:bodyPr>
          <a:lstStyle/>
          <a:p>
            <a:pPr algn="r">
              <a:defRPr sz="900" b="0">
                <a:solidFill>
                  <a:srgbClr val="B9C1D5"/>
                </a:solidFill>
                <a:latin typeface="Aptos"/>
              </a:defRPr>
            </a:pPr>
            <a:r>
              <a:rPr sz="675"/>
              <a:t>02 /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4350" y="1268730"/>
            <a:ext cx="3909060" cy="2674620"/>
          </a:xfrm>
          <a:prstGeom prst="roundRect">
            <a:avLst/>
          </a:prstGeom>
          <a:solidFill>
            <a:srgbClr val="1F273D"/>
          </a:solidFill>
          <a:ln>
            <a:solidFill>
              <a:srgbClr val="343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Rectangle 6"/>
          <p:cNvSpPr/>
          <p:nvPr/>
        </p:nvSpPr>
        <p:spPr>
          <a:xfrm>
            <a:off x="514350" y="1371600"/>
            <a:ext cx="41148" cy="2468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TextBox 7"/>
          <p:cNvSpPr txBox="1"/>
          <p:nvPr/>
        </p:nvSpPr>
        <p:spPr>
          <a:xfrm>
            <a:off x="665226" y="1392175"/>
            <a:ext cx="3621024" cy="212366"/>
          </a:xfrm>
          <a:prstGeom prst="rect">
            <a:avLst/>
          </a:prstGeom>
          <a:noFill/>
        </p:spPr>
        <p:txBody>
          <a:bodyPr wrap="square" lIns="13716" tIns="13716" rIns="13716" bIns="13716">
            <a:spAutoFit/>
          </a:bodyPr>
          <a:lstStyle/>
          <a:p>
            <a:pPr>
              <a:defRPr sz="1600" b="1">
                <a:solidFill>
                  <a:srgbClr val="F5F7FF"/>
                </a:solidFill>
                <a:latin typeface="Aptos"/>
              </a:defRPr>
            </a:pPr>
            <a:r>
              <a:rPr sz="1200"/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226" y="1735074"/>
            <a:ext cx="3621024" cy="720197"/>
          </a:xfrm>
          <a:prstGeom prst="rect">
            <a:avLst/>
          </a:prstGeom>
          <a:noFill/>
        </p:spPr>
        <p:txBody>
          <a:bodyPr wrap="square" lIns="13716" tIns="13716" rIns="13716" bIns="13716">
            <a:spAutoFit/>
          </a:bodyPr>
          <a:lstStyle/>
          <a:p>
            <a:pPr>
              <a:defRPr sz="1200" b="0">
                <a:solidFill>
                  <a:srgbClr val="B9C1D5"/>
                </a:solidFill>
                <a:latin typeface="Aptos"/>
              </a:defRPr>
            </a:pPr>
            <a:r>
              <a:rPr sz="900"/>
              <a:t>• People manage many online accounts.</a:t>
            </a:r>
            <a:br>
              <a:rPr sz="900"/>
            </a:br>
            <a:br>
              <a:rPr sz="900"/>
            </a:br>
            <a:r>
              <a:rPr sz="900"/>
              <a:t>• Reusing or choosing weak passwords increases risk.</a:t>
            </a:r>
            <a:br>
              <a:rPr sz="900"/>
            </a:br>
            <a:br>
              <a:rPr sz="900"/>
            </a:br>
            <a:r>
              <a:rPr sz="900"/>
              <a:t>• Storing credentials as plain text can expose sensitive information.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29150" y="1268730"/>
            <a:ext cx="3909060" cy="2674620"/>
          </a:xfrm>
          <a:prstGeom prst="roundRect">
            <a:avLst/>
          </a:prstGeom>
          <a:solidFill>
            <a:srgbClr val="1F273D"/>
          </a:solidFill>
          <a:ln>
            <a:solidFill>
              <a:srgbClr val="343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Rectangle 10"/>
          <p:cNvSpPr/>
          <p:nvPr/>
        </p:nvSpPr>
        <p:spPr>
          <a:xfrm>
            <a:off x="4629150" y="1371600"/>
            <a:ext cx="41148" cy="2468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TextBox 11"/>
          <p:cNvSpPr txBox="1"/>
          <p:nvPr/>
        </p:nvSpPr>
        <p:spPr>
          <a:xfrm>
            <a:off x="4780026" y="1392175"/>
            <a:ext cx="3621024" cy="212366"/>
          </a:xfrm>
          <a:prstGeom prst="rect">
            <a:avLst/>
          </a:prstGeom>
          <a:noFill/>
        </p:spPr>
        <p:txBody>
          <a:bodyPr wrap="square" lIns="13716" tIns="13716" rIns="13716" bIns="13716">
            <a:spAutoFit/>
          </a:bodyPr>
          <a:lstStyle/>
          <a:p>
            <a:pPr>
              <a:defRPr sz="1600" b="1">
                <a:solidFill>
                  <a:srgbClr val="F5F7FF"/>
                </a:solidFill>
                <a:latin typeface="Aptos"/>
              </a:defRPr>
            </a:pPr>
            <a:r>
              <a:rPr sz="1200"/>
              <a:t>Project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0026" y="1735074"/>
            <a:ext cx="3621024" cy="997196"/>
          </a:xfrm>
          <a:prstGeom prst="rect">
            <a:avLst/>
          </a:prstGeom>
          <a:noFill/>
        </p:spPr>
        <p:txBody>
          <a:bodyPr wrap="square" lIns="13716" tIns="13716" rIns="13716" bIns="13716">
            <a:spAutoFit/>
          </a:bodyPr>
          <a:lstStyle/>
          <a:p>
            <a:pPr>
              <a:defRPr sz="1200" b="0">
                <a:solidFill>
                  <a:srgbClr val="B9C1D5"/>
                </a:solidFill>
                <a:latin typeface="Aptos"/>
              </a:defRPr>
            </a:pPr>
            <a:r>
              <a:rPr sz="900"/>
              <a:t>• Store website credentials in encrypted form.</a:t>
            </a:r>
            <a:br>
              <a:rPr sz="900"/>
            </a:br>
            <a:br>
              <a:rPr sz="900"/>
            </a:br>
            <a:r>
              <a:rPr sz="900"/>
              <a:t>• Protect access through authentication and email OTP verification.</a:t>
            </a:r>
            <a:br>
              <a:rPr sz="900"/>
            </a:br>
            <a:br>
              <a:rPr sz="900"/>
            </a:br>
            <a:r>
              <a:rPr sz="900"/>
              <a:t>• Provide password generation and security audits.</a:t>
            </a:r>
            <a:br>
              <a:rPr sz="900"/>
            </a:br>
            <a:br>
              <a:rPr sz="900"/>
            </a:br>
            <a:r>
              <a:rPr sz="900"/>
              <a:t>• Offer a responsive, easy-to-use dashboard.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" y="4251960"/>
            <a:ext cx="7886700" cy="223907"/>
          </a:xfrm>
          <a:prstGeom prst="rect">
            <a:avLst/>
          </a:prstGeom>
          <a:noFill/>
        </p:spPr>
        <p:txBody>
          <a:bodyPr wrap="square" lIns="13716" tIns="13716" rIns="13716" bIns="13716">
            <a:spAutoFit/>
          </a:bodyPr>
          <a:lstStyle/>
          <a:p>
            <a:pPr>
              <a:defRPr sz="1700" b="1">
                <a:solidFill>
                  <a:srgbClr val="34D399"/>
                </a:solidFill>
                <a:latin typeface="Aptos"/>
              </a:defRPr>
            </a:pPr>
            <a:r>
              <a:rPr sz="1275"/>
              <a:t>Core goal: make credential management safer without sacrificing usability.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Technology Stack</a:t>
            </a:r>
            <a:endParaRPr lang="en-US" sz="3400" dirty="0"/>
          </a:p>
        </p:txBody>
      </p:sp>
      <p:sp>
        <p:nvSpPr>
          <p:cNvPr id="3" name="Card Frontend"/>
          <p:cNvSpPr/>
          <p:nvPr/>
        </p:nvSpPr>
        <p:spPr>
          <a:xfrm>
            <a:off x="457200" y="1143000"/>
            <a:ext cx="4023360" cy="2697480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Frontend badge"/>
          <p:cNvSpPr/>
          <p:nvPr/>
        </p:nvSpPr>
        <p:spPr>
          <a:xfrm>
            <a:off x="731520" y="1325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Fronte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45161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325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Frontend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1168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React 18 + Vite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React Router DOM v6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Axios with token interceptors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Lucide React icons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Custom CSS theme tokens</a:t>
            </a:r>
            <a:endParaRPr lang="en-US" sz="1400" dirty="0"/>
          </a:p>
        </p:txBody>
      </p:sp>
      <p:sp>
        <p:nvSpPr>
          <p:cNvPr id="8" name="Card Backend"/>
          <p:cNvSpPr/>
          <p:nvPr/>
        </p:nvSpPr>
        <p:spPr>
          <a:xfrm>
            <a:off x="4663440" y="1143000"/>
            <a:ext cx="4023360" cy="2697480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Backend badge"/>
          <p:cNvSpPr/>
          <p:nvPr/>
        </p:nvSpPr>
        <p:spPr>
          <a:xfrm>
            <a:off x="4937760" y="1325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Backen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490" y="145161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23560" y="1325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Backend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01168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Node.js 20+ and Express.js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MongoDB / Atlas + Mongoose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JWT + HTTP-only cookies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Nodemailer (Gmail SMTP)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bcryptjs, native crypto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Helmet, rate limiting, CORS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114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5"/>
                </a:solidFill>
              </a:rPr>
              <a:t>THEME TOKENS</a:t>
            </a:r>
            <a:endParaRPr lang="en-US" sz="1100" dirty="0"/>
          </a:p>
        </p:txBody>
      </p:sp>
      <p:sp>
        <p:nvSpPr>
          <p:cNvPr id="14" name="Swatch 4F46E5"/>
          <p:cNvSpPr/>
          <p:nvPr/>
        </p:nvSpPr>
        <p:spPr>
          <a:xfrm>
            <a:off x="1920240" y="411480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920240" y="4114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Indigo accent</a:t>
            </a:r>
            <a:endParaRPr lang="en-US" sz="1100" dirty="0"/>
          </a:p>
        </p:txBody>
      </p:sp>
      <p:sp>
        <p:nvSpPr>
          <p:cNvPr id="16" name="Swatch A5B4FC"/>
          <p:cNvSpPr/>
          <p:nvPr/>
        </p:nvSpPr>
        <p:spPr>
          <a:xfrm>
            <a:off x="3611880" y="411480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A5B4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611880" y="4114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923"/>
                </a:solidFill>
              </a:rPr>
              <a:t>Dark-mode accent</a:t>
            </a:r>
            <a:endParaRPr lang="en-US" sz="1100" dirty="0"/>
          </a:p>
        </p:txBody>
      </p:sp>
      <p:sp>
        <p:nvSpPr>
          <p:cNvPr id="18" name="Swatch 171923"/>
          <p:cNvSpPr/>
          <p:nvPr/>
        </p:nvSpPr>
        <p:spPr>
          <a:xfrm>
            <a:off x="5303520" y="411480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71923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303520" y="4114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Dark page</a:t>
            </a:r>
            <a:endParaRPr lang="en-US" sz="1100" dirty="0"/>
          </a:p>
        </p:txBody>
      </p:sp>
      <p:sp>
        <p:nvSpPr>
          <p:cNvPr id="20" name="Swatch FFFFFF"/>
          <p:cNvSpPr/>
          <p:nvPr/>
        </p:nvSpPr>
        <p:spPr>
          <a:xfrm>
            <a:off x="6995160" y="411480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995160" y="4114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923"/>
                </a:solidFill>
              </a:rPr>
              <a:t>Light card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REST API &amp; Project Structure</a:t>
            </a:r>
            <a:endParaRPr lang="en-US" sz="3400" dirty="0"/>
          </a:p>
        </p:txBody>
      </p:sp>
      <p:sp>
        <p:nvSpPr>
          <p:cNvPr id="3" name="API /api/auth"/>
          <p:cNvSpPr/>
          <p:nvPr/>
        </p:nvSpPr>
        <p:spPr>
          <a:xfrm>
            <a:off x="457200" y="1188720"/>
            <a:ext cx="402336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1"/>
                </a:solidFill>
              </a:rPr>
              <a:t>7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2984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/api/auth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60934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Register, login, OTP verify &amp; resend, me, logout</a:t>
            </a:r>
            <a:endParaRPr lang="en-US" sz="1400" dirty="0"/>
          </a:p>
        </p:txBody>
      </p:sp>
      <p:sp>
        <p:nvSpPr>
          <p:cNvPr id="7" name="API /api/credentials"/>
          <p:cNvSpPr/>
          <p:nvPr/>
        </p:nvSpPr>
        <p:spPr>
          <a:xfrm>
            <a:off x="457200" y="2377440"/>
            <a:ext cx="402336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94360" y="237744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1"/>
                </a:solidFill>
              </a:rPr>
              <a:t>8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4871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/api/credentials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79806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CRUD, favorites, stats, security analysis</a:t>
            </a:r>
            <a:endParaRPr lang="en-US" sz="1400" dirty="0"/>
          </a:p>
        </p:txBody>
      </p:sp>
      <p:sp>
        <p:nvSpPr>
          <p:cNvPr id="11" name="API /api/users"/>
          <p:cNvSpPr/>
          <p:nvPr/>
        </p:nvSpPr>
        <p:spPr>
          <a:xfrm>
            <a:off x="457200" y="3566160"/>
            <a:ext cx="402336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94360" y="356616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6758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/api/users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98678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Profile and master password updates</a:t>
            </a:r>
            <a:endParaRPr lang="en-US" sz="1400" dirty="0"/>
          </a:p>
        </p:txBody>
      </p:sp>
      <p:sp>
        <p:nvSpPr>
          <p:cNvPr id="15" name="Structure panel"/>
          <p:cNvSpPr/>
          <p:nvPr/>
        </p:nvSpPr>
        <p:spPr>
          <a:xfrm>
            <a:off x="4754880" y="1188720"/>
            <a:ext cx="3931920" cy="3383280"/>
          </a:xfrm>
          <a:prstGeom prst="roundRect">
            <a:avLst>
              <a:gd name="adj" fmla="val 3243"/>
            </a:avLst>
          </a:prstGeom>
          <a:solidFill>
            <a:schemeClr val="tx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983480" y="1325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PROJECT STRUCTURE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83480" y="16916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Program_files/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backend/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config/ controllers/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middleware/ models/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routes/ services/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utils/ server.js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frontend/src/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components/ context/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pages/ services/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styles/ utils/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package.json README.md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Two-Step OTP Authentication</a:t>
            </a:r>
            <a:endParaRPr lang="en-US" sz="3400" dirty="0"/>
          </a:p>
        </p:txBody>
      </p:sp>
      <p:sp>
        <p:nvSpPr>
          <p:cNvPr id="3" name="Check password badge"/>
          <p:cNvSpPr/>
          <p:nvPr/>
        </p:nvSpPr>
        <p:spPr>
          <a:xfrm>
            <a:off x="1028700" y="11887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mage 0" descr="Check passwo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580" y="1371600"/>
            <a:ext cx="365760" cy="365760"/>
          </a:xfrm>
          <a:prstGeom prst="rect">
            <a:avLst/>
          </a:prstGeom>
        </p:spPr>
      </p:pic>
      <p:sp>
        <p:nvSpPr>
          <p:cNvPr id="5" name="Arrow 1"/>
          <p:cNvSpPr/>
          <p:nvPr/>
        </p:nvSpPr>
        <p:spPr>
          <a:xfrm>
            <a:off x="1851660" y="1554480"/>
            <a:ext cx="1204265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6" name="Text 3"/>
          <p:cNvSpPr txBox="1"/>
          <p:nvPr/>
        </p:nvSpPr>
        <p:spPr>
          <a:xfrm>
            <a:off x="457200" y="21031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Check password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4688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</a:rPr>
              <a:t>Master password verified with bcrypt, 12 salt rounds</a:t>
            </a:r>
            <a:endParaRPr lang="en-US" sz="1400" dirty="0"/>
          </a:p>
        </p:txBody>
      </p:sp>
      <p:sp>
        <p:nvSpPr>
          <p:cNvPr id="8" name="Email OTP badge"/>
          <p:cNvSpPr/>
          <p:nvPr/>
        </p:nvSpPr>
        <p:spPr>
          <a:xfrm>
            <a:off x="3147365" y="11887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Email OT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0245" y="1371600"/>
            <a:ext cx="365760" cy="365760"/>
          </a:xfrm>
          <a:prstGeom prst="rect">
            <a:avLst/>
          </a:prstGeom>
        </p:spPr>
      </p:pic>
      <p:sp>
        <p:nvSpPr>
          <p:cNvPr id="10" name="Arrow 2"/>
          <p:cNvSpPr/>
          <p:nvPr/>
        </p:nvSpPr>
        <p:spPr>
          <a:xfrm>
            <a:off x="3970325" y="1554480"/>
            <a:ext cx="1204265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1" name="Text 7"/>
          <p:cNvSpPr txBox="1"/>
          <p:nvPr/>
        </p:nvSpPr>
        <p:spPr>
          <a:xfrm>
            <a:off x="2575865" y="21031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Email OTP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575865" y="24688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</a:rPr>
              <a:t>6-digit code from crypto.randomInt via Gmail SMTP</a:t>
            </a:r>
            <a:endParaRPr lang="en-US" sz="1400" dirty="0"/>
          </a:p>
        </p:txBody>
      </p:sp>
      <p:sp>
        <p:nvSpPr>
          <p:cNvPr id="13" name="Verify code badge"/>
          <p:cNvSpPr/>
          <p:nvPr/>
        </p:nvSpPr>
        <p:spPr>
          <a:xfrm>
            <a:off x="5266030" y="11887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2" descr="Verify cod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8910" y="1371600"/>
            <a:ext cx="365760" cy="365760"/>
          </a:xfrm>
          <a:prstGeom prst="rect">
            <a:avLst/>
          </a:prstGeom>
        </p:spPr>
      </p:pic>
      <p:sp>
        <p:nvSpPr>
          <p:cNvPr id="15" name="Arrow 3"/>
          <p:cNvSpPr/>
          <p:nvPr/>
        </p:nvSpPr>
        <p:spPr>
          <a:xfrm>
            <a:off x="6088990" y="1554480"/>
            <a:ext cx="1204265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6" name="Text 11"/>
          <p:cNvSpPr txBox="1"/>
          <p:nvPr/>
        </p:nvSpPr>
        <p:spPr>
          <a:xfrm>
            <a:off x="4694530" y="21031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Verify code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694530" y="24688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</a:rPr>
              <a:t>HMAC-SHA256 hash compared with timingSafeEqual</a:t>
            </a:r>
            <a:endParaRPr lang="en-US" sz="1400" dirty="0"/>
          </a:p>
        </p:txBody>
      </p:sp>
      <p:sp>
        <p:nvSpPr>
          <p:cNvPr id="18" name="Issue JWT badge"/>
          <p:cNvSpPr/>
          <p:nvPr/>
        </p:nvSpPr>
        <p:spPr>
          <a:xfrm>
            <a:off x="7384694" y="11887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mage 3" descr="Issue JW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7574" y="137160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13194" y="21031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Issue JWT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6813194" y="24688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</a:rPr>
              <a:t>HTTP-only cookie session, only after OTP success</a:t>
            </a:r>
            <a:endParaRPr lang="en-US" sz="1400" dirty="0"/>
          </a:p>
        </p:txBody>
      </p:sp>
      <p:sp>
        <p:nvSpPr>
          <p:cNvPr id="22" name="Stat 5 min"/>
          <p:cNvSpPr/>
          <p:nvPr/>
        </p:nvSpPr>
        <p:spPr>
          <a:xfrm>
            <a:off x="457200" y="3566160"/>
            <a:ext cx="260604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17"/>
          <p:cNvSpPr txBox="1"/>
          <p:nvPr/>
        </p:nvSpPr>
        <p:spPr>
          <a:xfrm>
            <a:off x="457200" y="36576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</a:rPr>
              <a:t>5 min</a:t>
            </a:r>
            <a:endParaRPr lang="en-US" sz="36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4251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OTP auto-expiry</a:t>
            </a:r>
            <a:endParaRPr lang="en-US" sz="1400" dirty="0"/>
          </a:p>
        </p:txBody>
      </p:sp>
      <p:sp>
        <p:nvSpPr>
          <p:cNvPr id="25" name="Stat 5 tries"/>
          <p:cNvSpPr/>
          <p:nvPr/>
        </p:nvSpPr>
        <p:spPr>
          <a:xfrm>
            <a:off x="3268980" y="3566160"/>
            <a:ext cx="260604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0"/>
          <p:cNvSpPr txBox="1"/>
          <p:nvPr/>
        </p:nvSpPr>
        <p:spPr>
          <a:xfrm>
            <a:off x="3268980" y="36576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</a:rPr>
              <a:t>5 tries</a:t>
            </a:r>
            <a:endParaRPr lang="en-US" sz="3600" dirty="0"/>
          </a:p>
        </p:txBody>
      </p:sp>
      <p:sp>
        <p:nvSpPr>
          <p:cNvPr id="27" name="Text 21"/>
          <p:cNvSpPr txBox="1"/>
          <p:nvPr/>
        </p:nvSpPr>
        <p:spPr>
          <a:xfrm>
            <a:off x="3360420" y="4251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then challenge is cancelled</a:t>
            </a:r>
            <a:endParaRPr lang="en-US" sz="1400" dirty="0"/>
          </a:p>
        </p:txBody>
      </p:sp>
      <p:sp>
        <p:nvSpPr>
          <p:cNvPr id="28" name="Stat 60 s"/>
          <p:cNvSpPr/>
          <p:nvPr/>
        </p:nvSpPr>
        <p:spPr>
          <a:xfrm>
            <a:off x="6080760" y="3566160"/>
            <a:ext cx="260604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3"/>
          <p:cNvSpPr txBox="1"/>
          <p:nvPr/>
        </p:nvSpPr>
        <p:spPr>
          <a:xfrm>
            <a:off x="6080760" y="36576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</a:rPr>
              <a:t>60 s</a:t>
            </a:r>
            <a:endParaRPr lang="en-US" sz="3600" dirty="0"/>
          </a:p>
        </p:txBody>
      </p:sp>
      <p:sp>
        <p:nvSpPr>
          <p:cNvPr id="30" name="Text 24"/>
          <p:cNvSpPr txBox="1"/>
          <p:nvPr/>
        </p:nvSpPr>
        <p:spPr>
          <a:xfrm>
            <a:off x="6172200" y="4251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resend cooldown, old OTP voided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Tested &amp; Production-Ready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2"/>
                </a:solidFill>
              </a:rPr>
              <a:t>8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11887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automated security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test suites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3172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</a:rPr>
              <a:t>AES-GCM round-trip and tamper rejection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</a:rPr>
              <a:t>Multi-tenant key isolation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</a:rPr>
              <a:t>OTP hashing, timing-safe checks, expiry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</a:rPr>
              <a:t>Strength scoring, userId-scoped queries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PRODUCTION CHECKLIST</a:t>
            </a:r>
            <a:endParaRPr lang="en-US" sz="1200" dirty="0"/>
          </a:p>
        </p:txBody>
      </p:sp>
      <p:sp>
        <p:nvSpPr>
          <p:cNvPr id="7" name="Num 1"/>
          <p:cNvSpPr/>
          <p:nvPr/>
        </p:nvSpPr>
        <p:spPr>
          <a:xfrm>
            <a:off x="4754880" y="16002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5488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HTTPS everywhere with HSTS</a:t>
            </a:r>
            <a:endParaRPr lang="en-US" sz="1400" dirty="0"/>
          </a:p>
        </p:txBody>
      </p:sp>
      <p:sp>
        <p:nvSpPr>
          <p:cNvPr id="10" name="Num 2"/>
          <p:cNvSpPr/>
          <p:nvPr/>
        </p:nvSpPr>
        <p:spPr>
          <a:xfrm>
            <a:off x="4754880" y="207568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20756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Load keys from a KMS or secret manager</a:t>
            </a:r>
            <a:endParaRPr lang="en-US" sz="1400" dirty="0"/>
          </a:p>
        </p:txBody>
      </p:sp>
      <p:sp>
        <p:nvSpPr>
          <p:cNvPr id="13" name="Num 3"/>
          <p:cNvSpPr/>
          <p:nvPr/>
        </p:nvSpPr>
        <p:spPr>
          <a:xfrm>
            <a:off x="4754880" y="255117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54880" y="2551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25511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Restrict Atlas to private VPC IPs</a:t>
            </a:r>
            <a:endParaRPr lang="en-US" sz="1400" dirty="0"/>
          </a:p>
        </p:txBody>
      </p:sp>
      <p:sp>
        <p:nvSpPr>
          <p:cNvPr id="16" name="Num 4"/>
          <p:cNvSpPr/>
          <p:nvPr/>
        </p:nvSpPr>
        <p:spPr>
          <a:xfrm>
            <a:off x="4754880" y="302666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5488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30266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Secure, httpOnly, sameSite-strict cookies</a:t>
            </a:r>
            <a:endParaRPr lang="en-US" sz="1400" dirty="0"/>
          </a:p>
        </p:txBody>
      </p:sp>
      <p:sp>
        <p:nvSpPr>
          <p:cNvPr id="19" name="Num 5"/>
          <p:cNvSpPr/>
          <p:nvPr/>
        </p:nvSpPr>
        <p:spPr>
          <a:xfrm>
            <a:off x="4754880" y="350215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754880" y="3502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35021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Auto-lock after 15 min of inactivity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chemeClr val="accent2"/>
                </a:solidFill>
              </a:rPr>
              <a:t>Zero plaintext. Zero cross-tenant access. Zero JWT before OTP.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28B53-4CB5-ED55-25D7-D90D165FF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5A65915-DB27-A771-5CFF-FCAD723A830F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172585" y="-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/>
              <a:t>DEMO:</a:t>
            </a:r>
            <a:endParaRPr lang="en-US" sz="34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D710B29-EE18-3E88-3242-EF66B5687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2617"/>
            <a:ext cx="9144000" cy="469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509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Core Features</a:t>
            </a:r>
            <a:endParaRPr lang="en-US" sz="3400" dirty="0"/>
          </a:p>
        </p:txBody>
      </p:sp>
      <p:sp>
        <p:nvSpPr>
          <p:cNvPr id="3" name="Card Zero-Plaintext Storage"/>
          <p:cNvSpPr/>
          <p:nvPr/>
        </p:nvSpPr>
        <p:spPr>
          <a:xfrm>
            <a:off x="457200" y="118872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Zero-Plaintext Storage badge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Zero-Plaintext Stor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48590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371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Zero-Plaintext Storage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65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Every credential encrypted with AES-256-GCM</a:t>
            </a:r>
            <a:endParaRPr lang="en-US" sz="1400" dirty="0"/>
          </a:p>
        </p:txBody>
      </p:sp>
      <p:sp>
        <p:nvSpPr>
          <p:cNvPr id="8" name="Card Tenant Isolation"/>
          <p:cNvSpPr/>
          <p:nvPr/>
        </p:nvSpPr>
        <p:spPr>
          <a:xfrm>
            <a:off x="3268980" y="118872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nant Isolation badge"/>
          <p:cNvSpPr/>
          <p:nvPr/>
        </p:nvSpPr>
        <p:spPr>
          <a:xfrm>
            <a:off x="345186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Tenant Isol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4859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46220" y="1371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Tenant Isolation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51860" y="1965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Separate HKDF-derived key per user</a:t>
            </a:r>
            <a:endParaRPr lang="en-US" sz="1400" dirty="0"/>
          </a:p>
        </p:txBody>
      </p:sp>
      <p:sp>
        <p:nvSpPr>
          <p:cNvPr id="13" name="Card Gmail OTP Login"/>
          <p:cNvSpPr/>
          <p:nvPr/>
        </p:nvSpPr>
        <p:spPr>
          <a:xfrm>
            <a:off x="6080760" y="118872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Gmail OTP Login badge"/>
          <p:cNvSpPr/>
          <p:nvPr/>
        </p:nvSpPr>
        <p:spPr>
          <a:xfrm>
            <a:off x="626364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Gmail OTP Logi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148590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58000" y="1371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Gmail OTP Login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1965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6-digit code on register and every login</a:t>
            </a:r>
            <a:endParaRPr lang="en-US" sz="1400" dirty="0"/>
          </a:p>
        </p:txBody>
      </p:sp>
      <p:sp>
        <p:nvSpPr>
          <p:cNvPr id="18" name="Card Reuse Audit"/>
          <p:cNvSpPr/>
          <p:nvPr/>
        </p:nvSpPr>
        <p:spPr>
          <a:xfrm>
            <a:off x="457200" y="297180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Reuse Audit badge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Reuse Aud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" y="326898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Reuse Audit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749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Blinded fingerprints find reused passwords</a:t>
            </a:r>
            <a:endParaRPr lang="en-US" sz="1400" dirty="0"/>
          </a:p>
        </p:txBody>
      </p:sp>
      <p:sp>
        <p:nvSpPr>
          <p:cNvPr id="23" name="Card Password Generator"/>
          <p:cNvSpPr/>
          <p:nvPr/>
        </p:nvSpPr>
        <p:spPr>
          <a:xfrm>
            <a:off x="3268980" y="297180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Password Generator badge"/>
          <p:cNvSpPr/>
          <p:nvPr/>
        </p:nvSpPr>
        <p:spPr>
          <a:xfrm>
            <a:off x="3451860" y="3154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mage 4" descr="Password Generato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326898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46220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Password Generator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51860" y="3749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Web Crypto API, 8–48 chars, custom sets</a:t>
            </a:r>
            <a:endParaRPr lang="en-US" sz="1400" dirty="0"/>
          </a:p>
        </p:txBody>
      </p:sp>
      <p:sp>
        <p:nvSpPr>
          <p:cNvPr id="28" name="Card 4 Views + Themes"/>
          <p:cNvSpPr/>
          <p:nvPr/>
        </p:nvSpPr>
        <p:spPr>
          <a:xfrm>
            <a:off x="6080760" y="297180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4 Views + Themes badge"/>
          <p:cNvSpPr/>
          <p:nvPr/>
        </p:nvSpPr>
        <p:spPr>
          <a:xfrm>
            <a:off x="6263640" y="3154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5" descr="4 Views + Theme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7940" y="326898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58000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4 Views + Themes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263640" y="3749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Cards, list, table; zero-flash dark mode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D879BC-2D43-B2FA-8405-73255DD5B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249" y="569229"/>
            <a:ext cx="4674946" cy="320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869323"/>
      </p:ext>
    </p:extLst>
  </p:cSld>
  <p:clrMapOvr>
    <a:masterClrMapping/>
  </p:clrMapOvr>
</p:sld>
</file>

<file path=ppt/theme/theme1.xml><?xml version="1.0" encoding="utf-8"?>
<a:theme xmlns:a="http://schemas.openxmlformats.org/drawingml/2006/main" name="SecureVault">
  <a:themeElements>
    <a:clrScheme name="SecureVault">
      <a:dk1>
        <a:srgbClr val="171923"/>
      </a:dk1>
      <a:lt1>
        <a:srgbClr val="FFFFFF"/>
      </a:lt1>
      <a:dk2>
        <a:srgbClr val="232635"/>
      </a:dk2>
      <a:lt2>
        <a:srgbClr val="F4F6FA"/>
      </a:lt2>
      <a:accent1>
        <a:srgbClr val="4F46E5"/>
      </a:accent1>
      <a:accent2>
        <a:srgbClr val="A5B4FC"/>
      </a:accent2>
      <a:accent3>
        <a:srgbClr val="10B981"/>
      </a:accent3>
      <a:accent4>
        <a:srgbClr val="F59E0B"/>
      </a:accent4>
      <a:accent5>
        <a:srgbClr val="6B7280"/>
      </a:accent5>
      <a:accent6>
        <a:srgbClr val="EF4444"/>
      </a:accent6>
      <a:hlink>
        <a:srgbClr val="4F46E5"/>
      </a:hlink>
      <a:folHlink>
        <a:srgbClr val="6B7280"/>
      </a:folHlink>
    </a:clrScheme>
    <a:fontScheme name="SecureVaul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708</Words>
  <Application>Microsoft Office PowerPoint</Application>
  <PresentationFormat>On-screen Show (16:9)</PresentationFormat>
  <Paragraphs>119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Courier New</vt:lpstr>
      <vt:lpstr>Wingdings</vt:lpstr>
      <vt:lpstr>SecureVault</vt:lpstr>
      <vt:lpstr>SecureVault</vt:lpstr>
      <vt:lpstr>PowerPoint Presentation</vt:lpstr>
      <vt:lpstr>Technology Stack</vt:lpstr>
      <vt:lpstr>REST API &amp; Project Structure</vt:lpstr>
      <vt:lpstr>Two-Step OTP Authentication</vt:lpstr>
      <vt:lpstr>Tested &amp; Production-Ready</vt:lpstr>
      <vt:lpstr>DEMO:</vt:lpstr>
      <vt:lpstr>Core Features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SecureVault — MERN Secure Password Manager</dc:title>
  <dc:subject>PptxGenJS Presentation</dc:subject>
  <dc:creator>PptxGenJS</dc:creator>
  <cp:lastModifiedBy>phaneendra kumar</cp:lastModifiedBy>
  <cp:revision>2</cp:revision>
  <dcterms:created xsi:type="dcterms:W3CDTF">2026-10-10T04:37:00Z</dcterms:created>
  <dcterms:modified xsi:type="dcterms:W3CDTF">2026-10-10T04:58:28Z</dcterms:modified>
</cp:coreProperties>
</file>